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4d9ef36c164d48" /><Relationship Type="http://schemas.openxmlformats.org/officeDocument/2006/relationships/extended-properties" Target="/docProps/app.xml" Id="Rc678c8127d824ccf" /><Relationship Type="http://schemas.openxmlformats.org/officeDocument/2006/relationships/officeDocument" Target="/ppt/presentation.xml" Id="R6cff4b2ba6f54b99" /></Relationships>
</file>

<file path=ppt/presentation.xml><?xml version="1.0" encoding="utf-8"?>
<p:presentation xmlns:p="http://schemas.openxmlformats.org/presentationml/2006/main">
  <p:sldMasterIdLst>
    <p:sldMasterId xmlns:r="http://schemas.openxmlformats.org/officeDocument/2006/relationships" id="2147483648" r:id="R98551fcb56854978"/>
  </p:sldMasterIdLst>
  <p:notesMasterIdLst>
    <p:notesMasterId xmlns:r="http://schemas.openxmlformats.org/officeDocument/2006/relationships" r:id="R62591e8556eb41c5"/>
  </p:notesMasterIdLst>
  <p:sldIdLst>
    <p:sldId xmlns:r="http://schemas.openxmlformats.org/officeDocument/2006/relationships" id="256" r:id="R4c838c2db9ef40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18da907bf84b3f" /><Relationship Type="http://schemas.openxmlformats.org/officeDocument/2006/relationships/slideMaster" Target="/ppt/slideMasters/slideMaster1.xml" Id="R98551fcb56854978" /><Relationship Type="http://schemas.openxmlformats.org/officeDocument/2006/relationships/notesMaster" Target="/ppt/notesMasters/notesMaster1.xml" Id="R62591e8556eb41c5" /><Relationship Type="http://schemas.openxmlformats.org/officeDocument/2006/relationships/presProps" Target="/ppt/presProps.xml" Id="Rffe86a6789fa4c9e" /><Relationship Type="http://schemas.openxmlformats.org/officeDocument/2006/relationships/tableStyles" Target="/ppt/tableStyles.xml" Id="Rb375e65f12374c23" /><Relationship Type="http://schemas.openxmlformats.org/officeDocument/2006/relationships/slide" Target="/ppt/slides/slide1.xml" Id="R4c838c2db9ef40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b98726c7b649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234c914e8a4bb3" /><Relationship Type="http://schemas.openxmlformats.org/officeDocument/2006/relationships/notesMaster" Target="/ppt/notesMasters/notesMaster1.xml" Id="R73c03a1565a148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mô hình được đánh giá trên cùng bệnh nhân và cùng ba seed nên sử dụng kiểm định ghép cặp. Bootstrap tạo 10.000 phiên bản tập kiểm thử bằng cách lấy lại bệnh nhân và seed có hoàn lại; cùng một mẫu bootstrap được dùng cho cả hai mô hình để ước lượng khoảng tin cậy 95%. Kiểm định hoán vị giả sử hai mô hình không khác nhau, sau đó đổi dự đoán A/B theo từng bệnh nhân 10.000 lần để tính p-value hai phía. Các p-value được hiệu chỉnh Holm; chỉ xác nhận khác biệt khi pHolm &lt; 0,05. Nếu pHolm ≥ 0,05, diễn giải là chưa đủ bằng chứng xác nhận khác biệt, không phải hai mô hình hoàn toàn tương đương.</a:t>
            </a:r>
          </a:p>
          <a:p xmlns:a="http://schemas.openxmlformats.org/drawingml/2006/main">
            <a:r>
              <a:t/>
            </a:r>
          </a:p>
          <a:p xmlns:a="http://schemas.openxmlformats.org/drawingml/2006/main">
            <a:r>
              <a:t>[Sources]</a:t>
            </a:r>
          </a:p>
          <a:p xmlns:a="http://schemas.openxmlformats.org/drawingml/2006/main">
            <a:r>
              <a:t>- C:/Users/lebat/Documents/Github/xbone-net/docs/report/Chapter4/chapter4.tex</a:t>
            </a:r>
          </a:p>
          <a:p xmlns:a="http://schemas.openxmlformats.org/drawingml/2006/main">
            <a:r>
              <a:t>- C:/Users/lebat/Documents/Github/xbone-net/tools/visualize/results.py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fcba48460a40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34e28ccec644d7" /><Relationship Type="http://schemas.openxmlformats.org/officeDocument/2006/relationships/slideLayout" Target="/ppt/slideLayouts/slideLayout1.xml" Id="R830e95ec880844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0e95ec880844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f79c3fcf744eb7" /><Relationship Type="http://schemas.openxmlformats.org/officeDocument/2006/relationships/notesSlide" Target="/ppt/notesSlides/notesSlide1.xml" Id="R3fae7b9bc6ca42d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41A1C974-CA37-48B4-A29C-20E40522C0E7}"/>
              </a:ext>
            </a:extLst>
          </p:cNvPr>
          <p:cNvSpPr>
            <a:spLocks xmlns:a="http://schemas.openxmlformats.org/drawingml/2006/main" noGrp="1"/>
          </p:cNvSpPr>
          <p:nvPr/>
        </p:nvSpPr>
        <p:spPr>
          <a:xfrm xmlns:a="http://schemas.openxmlformats.org/drawingml/2006/main">
            <a:off x="457200" y="32385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Kiểm định ghép cặp: từ chênh lệch quan sát đến kết luận</a:t>
            </a:r>
          </a:p>
        </p:txBody>
      </p:sp>
      <p:sp>
        <p:nvSpPr>
          <p:cNvPr id="2" name="slide-subtitle">
            <a:extLst xmlns:a="http://schemas.openxmlformats.org/drawingml/2006/main">
              <a:ext uri="{FF2B5EF4-FFF2-40B4-BE49-F238E27FC236}">
                <a16:creationId xmlns:a16="http://schemas.microsoft.com/office/drawing/2014/main" id="{BC5F9728-20F2-4684-9517-77AA5A711BDE}"/>
              </a:ext>
            </a:extLst>
          </p:cNvPr>
          <p:cNvSpPr>
            <a:spLocks xmlns:a="http://schemas.openxmlformats.org/drawingml/2006/main" noGrp="1"/>
          </p:cNvSpPr>
          <p:nvPr/>
        </p:nvSpPr>
        <p:spPr>
          <a:xfrm xmlns:a="http://schemas.openxmlformats.org/drawingml/2006/main">
            <a:off x="476250" y="100012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a:solidFill>
                  <a:srgbClr val="4B5563"/>
                </a:solidFill>
                <a:latin typeface="Helvetica Neue"/>
                <a:ea typeface="Helvetica Neue"/>
                <a:cs typeface="Helvetica Neue"/>
              </a:defRPr>
            </a:pPr>
            <a:r>
              <a:rPr sz="1350">
                <a:solidFill>
                  <a:srgbClr val="4B5563"/>
                </a:solidFill>
                <a:latin typeface="Helvetica Neue"/>
                <a:ea typeface="Helvetica Neue"/>
                <a:cs typeface="Helvetica Neue"/>
              </a:rPr>
              <a:t>Cùng bệnh nhân và cùng 3 seed giúp tách chênh lệch mô hình khỏi độ khó của mẫu.</a:t>
            </a:r>
          </a:p>
        </p:txBody>
      </p:sp>
      <p:sp>
        <p:nvSpPr>
          <p:cNvPr id="3" name="process-line">
            <a:extLst xmlns:a="http://schemas.openxmlformats.org/drawingml/2006/main">
              <a:ext uri="{FF2B5EF4-FFF2-40B4-BE49-F238E27FC236}">
                <a16:creationId xmlns:a16="http://schemas.microsoft.com/office/drawing/2014/main" id="{FBD2552A-965D-4CFE-960A-A152A4F8AE10}"/>
              </a:ext>
            </a:extLst>
          </p:cNvPr>
          <p:cNvSpPr>
            <a:spLocks xmlns:a="http://schemas.openxmlformats.org/drawingml/2006/main" noGrp="1"/>
          </p:cNvSpPr>
          <p:nvPr/>
        </p:nvSpPr>
        <p:spPr>
          <a:xfrm xmlns:a="http://schemas.openxmlformats.org/drawingml/2006/main">
            <a:off x="495300" y="5410200"/>
            <a:ext cx="10782300" cy="0"/>
          </a:xfrm>
          <a:prstGeom xmlns:a="http://schemas.openxmlformats.org/drawingml/2006/main" prst="line">
            <a:avLst/>
          </a:prstGeom>
          <a:noFill xmlns:a="http://schemas.openxmlformats.org/drawingml/2006/main"/>
          <a:ln xmlns:a="http://schemas.openxmlformats.org/drawingml/2006/main" w="14288">
            <a:solidFill>
              <a:srgbClr val="111827"/>
            </a:solidFill>
            <a:prstDash val="solid"/>
          </a:ln>
        </p:spPr>
      </p:sp>
      <p:sp>
        <p:nvSpPr>
          <p:cNvPr id="4" name="milestone-dot-1">
            <a:extLst xmlns:a="http://schemas.openxmlformats.org/drawingml/2006/main">
              <a:ext uri="{FF2B5EF4-FFF2-40B4-BE49-F238E27FC236}">
                <a16:creationId xmlns:a16="http://schemas.microsoft.com/office/drawing/2014/main" id="{51802543-A563-472C-991C-D3368E7955A0}"/>
              </a:ext>
            </a:extLst>
          </p:cNvPr>
          <p:cNvSpPr>
            <a:spLocks xmlns:a="http://schemas.openxmlformats.org/drawingml/2006/main" noGrp="1"/>
          </p:cNvSpPr>
          <p:nvPr/>
        </p:nvSpPr>
        <p:spPr>
          <a:xfrm xmlns:a="http://schemas.openxmlformats.org/drawingml/2006/main">
            <a:off x="476250" y="5343525"/>
            <a:ext cx="133350" cy="13335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sp>
      <p:sp>
        <p:nvSpPr>
          <p:cNvPr id="5" name="milestone-card-1">
            <a:extLst xmlns:a="http://schemas.openxmlformats.org/drawingml/2006/main">
              <a:ext uri="{FF2B5EF4-FFF2-40B4-BE49-F238E27FC236}">
                <a16:creationId xmlns:a16="http://schemas.microsoft.com/office/drawing/2014/main" id="{8F651820-4978-4AF8-9DE0-81155138D998}"/>
              </a:ext>
            </a:extLst>
          </p:cNvPr>
          <p:cNvSpPr>
            <a:spLocks xmlns:a="http://schemas.openxmlformats.org/drawingml/2006/main" noGrp="1"/>
          </p:cNvSpPr>
          <p:nvPr/>
        </p:nvSpPr>
        <p:spPr>
          <a:xfrm xmlns:a="http://schemas.openxmlformats.org/drawingml/2006/main">
            <a:off x="476250" y="1581150"/>
            <a:ext cx="3429000" cy="3381375"/>
          </a:xfrm>
          <a:prstGeom xmlns:a="http://schemas.openxmlformats.org/drawingml/2006/main" prst="roundRect">
            <a:avLst>
              <a:gd name="adj" fmla="val 3380"/>
            </a:avLst>
          </a:prstGeom>
          <a:solidFill xmlns:a="http://schemas.openxmlformats.org/drawingml/2006/main">
            <a:srgbClr val="F2F2F2"/>
          </a:solidFill>
          <a:ln xmlns:a="http://schemas.openxmlformats.org/drawingml/2006/main" w="9525">
            <a:solidFill>
              <a:srgbClr val="D1D5DB"/>
            </a:solidFill>
            <a:prstDash val="solid"/>
          </a:ln>
        </p:spPr>
      </p:sp>
      <p:sp>
        <p:nvSpPr>
          <p:cNvPr id="6" name="milestone-title-1">
            <a:extLst xmlns:a="http://schemas.openxmlformats.org/drawingml/2006/main">
              <a:ext uri="{FF2B5EF4-FFF2-40B4-BE49-F238E27FC236}">
                <a16:creationId xmlns:a16="http://schemas.microsoft.com/office/drawing/2014/main" id="{6BFCD7E2-744D-4F03-9C9A-DE9D4DB95CAD}"/>
              </a:ext>
            </a:extLst>
          </p:cNvPr>
          <p:cNvSpPr>
            <a:spLocks xmlns:a="http://schemas.openxmlformats.org/drawingml/2006/main" noGrp="1"/>
          </p:cNvSpPr>
          <p:nvPr/>
        </p:nvSpPr>
        <p:spPr>
          <a:xfrm xmlns:a="http://schemas.openxmlformats.org/drawingml/2006/main">
            <a:off x="781050" y="19526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1. GIỮ GHÉP CẶP</a:t>
            </a:r>
          </a:p>
        </p:txBody>
      </p:sp>
      <p:sp>
        <p:nvSpPr>
          <p:cNvPr id="7" name="milestone-body-1">
            <a:extLst xmlns:a="http://schemas.openxmlformats.org/drawingml/2006/main">
              <a:ext uri="{FF2B5EF4-FFF2-40B4-BE49-F238E27FC236}">
                <a16:creationId xmlns:a16="http://schemas.microsoft.com/office/drawing/2014/main" id="{07CC00FC-D5D0-48C4-BCD8-9B5D380CEFB4}"/>
              </a:ext>
            </a:extLst>
          </p:cNvPr>
          <p:cNvSpPr>
            <a:spLocks xmlns:a="http://schemas.openxmlformats.org/drawingml/2006/main" noGrp="1"/>
          </p:cNvSpPr>
          <p:nvPr/>
        </p:nvSpPr>
        <p:spPr>
          <a:xfrm xmlns:a="http://schemas.openxmlformats.org/drawingml/2006/main">
            <a:off x="781050" y="2514600"/>
            <a:ext cx="28194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Cùng bệnh nhân</a:t>
            </a:r>
          </a:p>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Cùng 3 seed</a:t>
            </a:r>
          </a:p>
          <a:p xmlns:a="http://schemas.openxmlformats.org/drawingml/2006/main">
            <a:r>
              <a:t/>
            </a:r>
          </a:p>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Tính Δ = A − B</a:t>
            </a:r>
          </a:p>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trên cùng tập mẫu</a:t>
            </a:r>
          </a:p>
        </p:txBody>
      </p:sp>
      <p:sp>
        <p:nvSpPr>
          <p:cNvPr id="8" name="milestone-label-1">
            <a:extLst xmlns:a="http://schemas.openxmlformats.org/drawingml/2006/main">
              <a:ext uri="{FF2B5EF4-FFF2-40B4-BE49-F238E27FC236}">
                <a16:creationId xmlns:a16="http://schemas.microsoft.com/office/drawing/2014/main" id="{96BFD096-CBB5-4F64-BCA0-F3EF4D514D0B}"/>
              </a:ext>
            </a:extLst>
          </p:cNvPr>
          <p:cNvSpPr>
            <a:spLocks xmlns:a="http://schemas.openxmlformats.org/drawingml/2006/main" noGrp="1"/>
          </p:cNvSpPr>
          <p:nvPr/>
        </p:nvSpPr>
        <p:spPr>
          <a:xfrm xmlns:a="http://schemas.openxmlformats.org/drawingml/2006/main">
            <a:off x="476250" y="56578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So sánh công bằng</a:t>
            </a:r>
          </a:p>
        </p:txBody>
      </p:sp>
      <p:sp>
        <p:nvSpPr>
          <p:cNvPr id="9" name="milestone-dot-2">
            <a:extLst xmlns:a="http://schemas.openxmlformats.org/drawingml/2006/main">
              <a:ext uri="{FF2B5EF4-FFF2-40B4-BE49-F238E27FC236}">
                <a16:creationId xmlns:a16="http://schemas.microsoft.com/office/drawing/2014/main" id="{051BCA25-F103-493F-8A3F-2C0AF5D1EA6C}"/>
              </a:ext>
            </a:extLst>
          </p:cNvPr>
          <p:cNvSpPr>
            <a:spLocks xmlns:a="http://schemas.openxmlformats.org/drawingml/2006/main" noGrp="1"/>
          </p:cNvSpPr>
          <p:nvPr/>
        </p:nvSpPr>
        <p:spPr>
          <a:xfrm xmlns:a="http://schemas.openxmlformats.org/drawingml/2006/main">
            <a:off x="4314825" y="5343525"/>
            <a:ext cx="133350" cy="1333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 name="milestone-card-2">
            <a:extLst xmlns:a="http://schemas.openxmlformats.org/drawingml/2006/main">
              <a:ext uri="{FF2B5EF4-FFF2-40B4-BE49-F238E27FC236}">
                <a16:creationId xmlns:a16="http://schemas.microsoft.com/office/drawing/2014/main" id="{3BBD89A2-D47E-4890-A4FB-C3BB4DBB03E3}"/>
              </a:ext>
            </a:extLst>
          </p:cNvPr>
          <p:cNvSpPr>
            <a:spLocks xmlns:a="http://schemas.openxmlformats.org/drawingml/2006/main" noGrp="1"/>
          </p:cNvSpPr>
          <p:nvPr/>
        </p:nvSpPr>
        <p:spPr>
          <a:xfrm xmlns:a="http://schemas.openxmlformats.org/drawingml/2006/main">
            <a:off x="4314825" y="1581150"/>
            <a:ext cx="3429000" cy="3381375"/>
          </a:xfrm>
          <a:prstGeom xmlns:a="http://schemas.openxmlformats.org/drawingml/2006/main" prst="roundRect">
            <a:avLst>
              <a:gd name="adj" fmla="val 3380"/>
            </a:avLst>
          </a:prstGeom>
          <a:solidFill xmlns:a="http://schemas.openxmlformats.org/drawingml/2006/main">
            <a:srgbClr val="EAF6FC"/>
          </a:solidFill>
          <a:ln xmlns:a="http://schemas.openxmlformats.org/drawingml/2006/main" w="9525">
            <a:solidFill>
              <a:srgbClr val="A6D8F0"/>
            </a:solidFill>
            <a:prstDash val="solid"/>
          </a:ln>
        </p:spPr>
      </p:sp>
      <p:sp>
        <p:nvSpPr>
          <p:cNvPr id="11" name="milestone-title-2">
            <a:extLst xmlns:a="http://schemas.openxmlformats.org/drawingml/2006/main">
              <a:ext uri="{FF2B5EF4-FFF2-40B4-BE49-F238E27FC236}">
                <a16:creationId xmlns:a16="http://schemas.microsoft.com/office/drawing/2014/main" id="{3121B956-CAF8-4ADA-B521-3F36B1D73E64}"/>
              </a:ext>
            </a:extLst>
          </p:cNvPr>
          <p:cNvSpPr>
            <a:spLocks xmlns:a="http://schemas.openxmlformats.org/drawingml/2006/main" noGrp="1"/>
          </p:cNvSpPr>
          <p:nvPr/>
        </p:nvSpPr>
        <p:spPr>
          <a:xfrm xmlns:a="http://schemas.openxmlformats.org/drawingml/2006/main">
            <a:off x="4619625" y="19526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a:solidFill>
                  <a:srgbClr val="2368B5"/>
                </a:solidFill>
                <a:latin typeface="Helvetica Neue"/>
                <a:ea typeface="Helvetica Neue"/>
                <a:cs typeface="Helvetica Neue"/>
              </a:defRPr>
            </a:pPr>
            <a:r>
              <a:rPr sz="1725" b="1">
                <a:solidFill>
                  <a:srgbClr val="2368B5"/>
                </a:solidFill>
                <a:latin typeface="Helvetica Neue"/>
                <a:ea typeface="Helvetica Neue"/>
                <a:cs typeface="Helvetica Neue"/>
              </a:rPr>
              <a:t>2. BOOTSTRAP × 10.000</a:t>
            </a:r>
          </a:p>
        </p:txBody>
      </p:sp>
      <p:sp>
        <p:nvSpPr>
          <p:cNvPr id="12" name="milestone-body-2">
            <a:extLst xmlns:a="http://schemas.openxmlformats.org/drawingml/2006/main">
              <a:ext uri="{FF2B5EF4-FFF2-40B4-BE49-F238E27FC236}">
                <a16:creationId xmlns:a16="http://schemas.microsoft.com/office/drawing/2014/main" id="{26F78C5A-6447-48AC-A4A2-C65C2428DE22}"/>
              </a:ext>
            </a:extLst>
          </p:cNvPr>
          <p:cNvSpPr>
            <a:spLocks xmlns:a="http://schemas.openxmlformats.org/drawingml/2006/main" noGrp="1"/>
          </p:cNvSpPr>
          <p:nvPr/>
        </p:nvSpPr>
        <p:spPr>
          <a:xfrm xmlns:a="http://schemas.openxmlformats.org/drawingml/2006/main">
            <a:off x="4619625" y="2514600"/>
            <a:ext cx="28194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Lấy lại bệnh nhân</a:t>
            </a:r>
          </a:p>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và seed có hoàn lại</a:t>
            </a:r>
          </a:p>
          <a:p xmlns:a="http://schemas.openxmlformats.org/drawingml/2006/main">
            <a:r>
              <a:t/>
            </a:r>
          </a:p>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Kết quả:</a:t>
            </a:r>
          </a:p>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Khoảng tin cậy 95%</a:t>
            </a:r>
          </a:p>
        </p:txBody>
      </p:sp>
      <p:sp>
        <p:nvSpPr>
          <p:cNvPr id="13" name="milestone-label-2">
            <a:extLst xmlns:a="http://schemas.openxmlformats.org/drawingml/2006/main">
              <a:ext uri="{FF2B5EF4-FFF2-40B4-BE49-F238E27FC236}">
                <a16:creationId xmlns:a16="http://schemas.microsoft.com/office/drawing/2014/main" id="{6900A397-134B-414D-B4FF-FBA86589C0A2}"/>
              </a:ext>
            </a:extLst>
          </p:cNvPr>
          <p:cNvSpPr>
            <a:spLocks xmlns:a="http://schemas.openxmlformats.org/drawingml/2006/main" noGrp="1"/>
          </p:cNvSpPr>
          <p:nvPr/>
        </p:nvSpPr>
        <p:spPr>
          <a:xfrm xmlns:a="http://schemas.openxmlformats.org/drawingml/2006/main">
            <a:off x="4314825" y="56578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Độ bất định của Δ</a:t>
            </a:r>
          </a:p>
        </p:txBody>
      </p:sp>
      <p:sp>
        <p:nvSpPr>
          <p:cNvPr id="14" name="milestone-dot-3">
            <a:extLst xmlns:a="http://schemas.openxmlformats.org/drawingml/2006/main">
              <a:ext uri="{FF2B5EF4-FFF2-40B4-BE49-F238E27FC236}">
                <a16:creationId xmlns:a16="http://schemas.microsoft.com/office/drawing/2014/main" id="{B9F2C977-C7F5-453B-81B3-76430A7C4122}"/>
              </a:ext>
            </a:extLst>
          </p:cNvPr>
          <p:cNvSpPr>
            <a:spLocks xmlns:a="http://schemas.openxmlformats.org/drawingml/2006/main" noGrp="1"/>
          </p:cNvSpPr>
          <p:nvPr/>
        </p:nvSpPr>
        <p:spPr>
          <a:xfrm xmlns:a="http://schemas.openxmlformats.org/drawingml/2006/main">
            <a:off x="8153400" y="5343525"/>
            <a:ext cx="133350" cy="1333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5" name="milestone-card-3">
            <a:extLst xmlns:a="http://schemas.openxmlformats.org/drawingml/2006/main">
              <a:ext uri="{FF2B5EF4-FFF2-40B4-BE49-F238E27FC236}">
                <a16:creationId xmlns:a16="http://schemas.microsoft.com/office/drawing/2014/main" id="{90198FCF-8EE3-4E36-B918-4D3E32723FF7}"/>
              </a:ext>
            </a:extLst>
          </p:cNvPr>
          <p:cNvSpPr>
            <a:spLocks xmlns:a="http://schemas.openxmlformats.org/drawingml/2006/main" noGrp="1"/>
          </p:cNvSpPr>
          <p:nvPr/>
        </p:nvSpPr>
        <p:spPr>
          <a:xfrm xmlns:a="http://schemas.openxmlformats.org/drawingml/2006/main">
            <a:off x="8153400" y="1581150"/>
            <a:ext cx="3429000" cy="3381375"/>
          </a:xfrm>
          <a:prstGeom xmlns:a="http://schemas.openxmlformats.org/drawingml/2006/main" prst="roundRect">
            <a:avLst>
              <a:gd name="adj" fmla="val 3380"/>
            </a:avLst>
          </a:prstGeom>
          <a:solidFill xmlns:a="http://schemas.openxmlformats.org/drawingml/2006/main">
            <a:srgbClr val="D9EEFC"/>
          </a:solidFill>
          <a:ln xmlns:a="http://schemas.openxmlformats.org/drawingml/2006/main" w="9525">
            <a:solidFill>
              <a:srgbClr val="A6D8F0"/>
            </a:solidFill>
            <a:prstDash val="solid"/>
          </a:ln>
        </p:spPr>
      </p:sp>
      <p:sp>
        <p:nvSpPr>
          <p:cNvPr id="16" name="milestone-title-3">
            <a:extLst xmlns:a="http://schemas.openxmlformats.org/drawingml/2006/main">
              <a:ext uri="{FF2B5EF4-FFF2-40B4-BE49-F238E27FC236}">
                <a16:creationId xmlns:a16="http://schemas.microsoft.com/office/drawing/2014/main" id="{5510AADA-3C08-4048-B92E-96E36B1045FF}"/>
              </a:ext>
            </a:extLst>
          </p:cNvPr>
          <p:cNvSpPr>
            <a:spLocks xmlns:a="http://schemas.openxmlformats.org/drawingml/2006/main" noGrp="1"/>
          </p:cNvSpPr>
          <p:nvPr/>
        </p:nvSpPr>
        <p:spPr>
          <a:xfrm xmlns:a="http://schemas.openxmlformats.org/drawingml/2006/main">
            <a:off x="8458200" y="19526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a:solidFill>
                  <a:srgbClr val="2368B5"/>
                </a:solidFill>
                <a:latin typeface="Helvetica Neue"/>
                <a:ea typeface="Helvetica Neue"/>
                <a:cs typeface="Helvetica Neue"/>
              </a:defRPr>
            </a:pPr>
            <a:r>
              <a:rPr sz="1725" b="1">
                <a:solidFill>
                  <a:srgbClr val="2368B5"/>
                </a:solidFill>
                <a:latin typeface="Helvetica Neue"/>
                <a:ea typeface="Helvetica Neue"/>
                <a:cs typeface="Helvetica Neue"/>
              </a:rPr>
              <a:t>3. HOÁN VỊ × 10.000</a:t>
            </a:r>
          </a:p>
        </p:txBody>
      </p:sp>
      <p:sp>
        <p:nvSpPr>
          <p:cNvPr id="17" name="milestone-body-3">
            <a:extLst xmlns:a="http://schemas.openxmlformats.org/drawingml/2006/main">
              <a:ext uri="{FF2B5EF4-FFF2-40B4-BE49-F238E27FC236}">
                <a16:creationId xmlns:a16="http://schemas.microsoft.com/office/drawing/2014/main" id="{E9AB160D-34A0-4F5A-856F-D78746361D22}"/>
              </a:ext>
            </a:extLst>
          </p:cNvPr>
          <p:cNvSpPr>
            <a:spLocks xmlns:a="http://schemas.openxmlformats.org/drawingml/2006/main" noGrp="1"/>
          </p:cNvSpPr>
          <p:nvPr/>
        </p:nvSpPr>
        <p:spPr>
          <a:xfrm xmlns:a="http://schemas.openxmlformats.org/drawingml/2006/main">
            <a:off x="8458200" y="2514600"/>
            <a:ext cx="28194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Đổi dự đoán A/B</a:t>
            </a:r>
          </a:p>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theo từng bệnh nhân</a:t>
            </a:r>
          </a:p>
          <a:p xmlns:a="http://schemas.openxmlformats.org/drawingml/2006/main">
            <a:r>
              <a:t/>
            </a:r>
          </a:p>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p-value hai phía</a:t>
            </a:r>
          </a:p>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 Hiệu chỉnh Holm</a:t>
            </a:r>
          </a:p>
        </p:txBody>
      </p:sp>
      <p:sp>
        <p:nvSpPr>
          <p:cNvPr id="18" name="milestone-label-3">
            <a:extLst xmlns:a="http://schemas.openxmlformats.org/drawingml/2006/main">
              <a:ext uri="{FF2B5EF4-FFF2-40B4-BE49-F238E27FC236}">
                <a16:creationId xmlns:a16="http://schemas.microsoft.com/office/drawing/2014/main" id="{F9EAC3C8-4DCA-4BEE-90F7-253E9A514402}"/>
              </a:ext>
            </a:extLst>
          </p:cNvPr>
          <p:cNvSpPr>
            <a:spLocks xmlns:a="http://schemas.openxmlformats.org/drawingml/2006/main" noGrp="1"/>
          </p:cNvSpPr>
          <p:nvPr/>
        </p:nvSpPr>
        <p:spPr>
          <a:xfrm xmlns:a="http://schemas.openxmlformats.org/drawingml/2006/main">
            <a:off x="8153400" y="56578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1">
                <a:solidFill>
                  <a:srgbClr val="2368B5"/>
                </a:solidFill>
                <a:latin typeface="Helvetica Neue"/>
                <a:ea typeface="Helvetica Neue"/>
                <a:cs typeface="Helvetica Neue"/>
              </a:defRPr>
            </a:pPr>
            <a:r>
              <a:rPr sz="1650" b="1">
                <a:solidFill>
                  <a:srgbClr val="2368B5"/>
                </a:solidFill>
                <a:latin typeface="Helvetica Neue"/>
                <a:ea typeface="Helvetica Neue"/>
                <a:cs typeface="Helvetica Neue"/>
              </a:rPr>
              <a:t>pHolm &lt; 0,05</a:t>
            </a:r>
          </a:p>
        </p:txBody>
      </p:sp>
      <p:sp>
        <p:nvSpPr>
          <p:cNvPr id="19" name="interpretation-footer">
            <a:extLst xmlns:a="http://schemas.openxmlformats.org/drawingml/2006/main">
              <a:ext uri="{FF2B5EF4-FFF2-40B4-BE49-F238E27FC236}">
                <a16:creationId xmlns:a16="http://schemas.microsoft.com/office/drawing/2014/main" id="{0217E83C-E3BC-4A91-A964-DA1859BDADEC}"/>
              </a:ext>
            </a:extLst>
          </p:cNvPr>
          <p:cNvSpPr>
            <a:spLocks xmlns:a="http://schemas.openxmlformats.org/drawingml/2006/main" noGrp="1"/>
          </p:cNvSpPr>
          <p:nvPr/>
        </p:nvSpPr>
        <p:spPr>
          <a:xfrm xmlns:a="http://schemas.openxmlformats.org/drawingml/2006/main">
            <a:off x="476250" y="62293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B5563"/>
                </a:solidFill>
                <a:latin typeface="Helvetica Neue"/>
                <a:ea typeface="Helvetica Neue"/>
                <a:cs typeface="Helvetica Neue"/>
              </a:defRPr>
            </a:pPr>
            <a:r>
              <a:rPr sz="1200">
                <a:solidFill>
                  <a:srgbClr val="4B5563"/>
                </a:solidFill>
                <a:latin typeface="Helvetica Neue"/>
                <a:ea typeface="Helvetica Neue"/>
                <a:cs typeface="Helvetica Neue"/>
              </a:rPr>
              <a:t>pHolm ≥ 0,05: chưa đủ bằng chứng xác nhận khác biệt — không đồng nghĩa hai mô hình hoàn toàn giống nhau.</a:t>
            </a:r>
          </a:p>
        </p:txBody>
      </p:sp>
      <p:sp>
        <p:nvSpPr>
          <p:cNvPr id="20" name="slide-number">
            <a:extLst xmlns:a="http://schemas.openxmlformats.org/drawingml/2006/main">
              <a:ext uri="{FF2B5EF4-FFF2-40B4-BE49-F238E27FC236}">
                <a16:creationId xmlns:a16="http://schemas.microsoft.com/office/drawing/2014/main" id="{C1C39BBE-3B25-4806-8BC2-48BCEAB68E18}"/>
              </a:ext>
            </a:extLst>
          </p:cNvPr>
          <p:cNvSpPr>
            <a:spLocks xmlns:a="http://schemas.openxmlformats.org/drawingml/2006/main" noGrp="1"/>
          </p:cNvSpPr>
          <p:nvPr/>
        </p:nvSpPr>
        <p:spPr>
          <a:xfrm xmlns:a="http://schemas.openxmlformats.org/drawingml/2006/main">
            <a:off x="11239500" y="62388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6B7280"/>
                </a:solidFill>
                <a:latin typeface="Helvetica Neue"/>
                <a:ea typeface="Helvetica Neue"/>
                <a:cs typeface="Helvetica Neue"/>
              </a:defRPr>
            </a:pPr>
            <a:r>
              <a:rPr sz="1050">
                <a:solidFill>
                  <a:srgbClr val="6B7280"/>
                </a:solidFill>
                <a:latin typeface="Helvetica Neue"/>
                <a:ea typeface="Helvetica Neue"/>
                <a:cs typeface="Helvetica Neue"/>
              </a:rPr>
              <a:t>01</a:t>
            </a:r>
          </a:p>
        </p:txBody>
      </p:sp>
    </p:spTree>
    <p:extLst>
      <p:ext uri="{BB962C8B-B14F-4D97-AF65-F5344CB8AC3E}">
        <p14:creationId xmlns:p14="http://schemas.microsoft.com/office/powerpoint/2010/main" val="1853926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2026-08-24T05:37:56.2560000Z</dcterms:created>
  <dcterms:modified xsi:type="dcterms:W3CDTF">2026-08-24T05:37:56.2560000Z</dcterms:modified>
</coreProperties>
</file>